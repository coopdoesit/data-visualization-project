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Playfair Display"/>
      <p:regular r:id="rId30"/>
      <p:bold r:id="rId31"/>
      <p:italic r:id="rId32"/>
      <p:boldItalic r:id="rId33"/>
    </p:embeddedFont>
    <p:embeddedFont>
      <p:font typeface="Lato"/>
      <p:regular r:id="rId34"/>
      <p:bold r:id="rId35"/>
      <p:italic r:id="rId36"/>
      <p:boldItalic r:id="rId37"/>
    </p:embeddedFont>
    <p:embeddedFont>
      <p:font typeface="Playfair Display SemiBold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ayfairDisplaySemiBold-italic.fntdata"/><Relationship Id="rId20" Type="http://schemas.openxmlformats.org/officeDocument/2006/relationships/slide" Target="slides/slide15.xml"/><Relationship Id="rId41" Type="http://schemas.openxmlformats.org/officeDocument/2006/relationships/font" Target="fonts/PlayfairDisplaySemiBold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fairDisplay-bold.fntdata"/><Relationship Id="rId30" Type="http://schemas.openxmlformats.org/officeDocument/2006/relationships/font" Target="fonts/PlayfairDisplay-regular.fntdata"/><Relationship Id="rId11" Type="http://schemas.openxmlformats.org/officeDocument/2006/relationships/slide" Target="slides/slide6.xml"/><Relationship Id="rId33" Type="http://schemas.openxmlformats.org/officeDocument/2006/relationships/font" Target="fonts/PlayfairDisplay-boldItalic.fntdata"/><Relationship Id="rId10" Type="http://schemas.openxmlformats.org/officeDocument/2006/relationships/slide" Target="slides/slide5.xml"/><Relationship Id="rId32" Type="http://schemas.openxmlformats.org/officeDocument/2006/relationships/font" Target="fonts/PlayfairDisplay-italic.fntdata"/><Relationship Id="rId13" Type="http://schemas.openxmlformats.org/officeDocument/2006/relationships/slide" Target="slides/slide8.xml"/><Relationship Id="rId35" Type="http://schemas.openxmlformats.org/officeDocument/2006/relationships/font" Target="fonts/Lato-bold.fntdata"/><Relationship Id="rId12" Type="http://schemas.openxmlformats.org/officeDocument/2006/relationships/slide" Target="slides/slide7.xml"/><Relationship Id="rId34" Type="http://schemas.openxmlformats.org/officeDocument/2006/relationships/font" Target="fonts/Lato-regular.fntdata"/><Relationship Id="rId15" Type="http://schemas.openxmlformats.org/officeDocument/2006/relationships/slide" Target="slides/slide10.xml"/><Relationship Id="rId37" Type="http://schemas.openxmlformats.org/officeDocument/2006/relationships/font" Target="fonts/Lato-boldItalic.fntdata"/><Relationship Id="rId14" Type="http://schemas.openxmlformats.org/officeDocument/2006/relationships/slide" Target="slides/slide9.xml"/><Relationship Id="rId36" Type="http://schemas.openxmlformats.org/officeDocument/2006/relationships/font" Target="fonts/Lato-italic.fntdata"/><Relationship Id="rId17" Type="http://schemas.openxmlformats.org/officeDocument/2006/relationships/slide" Target="slides/slide12.xml"/><Relationship Id="rId39" Type="http://schemas.openxmlformats.org/officeDocument/2006/relationships/font" Target="fonts/PlayfairDisplaySemiBold-bold.fntdata"/><Relationship Id="rId16" Type="http://schemas.openxmlformats.org/officeDocument/2006/relationships/slide" Target="slides/slide11.xml"/><Relationship Id="rId38" Type="http://schemas.openxmlformats.org/officeDocument/2006/relationships/font" Target="fonts/PlayfairDisplaySemiBold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545c0a8a3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545c0a8a3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b839592f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b839592f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b839592f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b839592f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b839592f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b839592f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545c0a8a3_0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545c0a8a3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b839592f1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b839592f1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b839592f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b839592f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545c0a8a3_0_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545c0a8a3_0_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545c0a8a3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545c0a8a3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545c0a8a3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545c0a8a3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545c0a8a3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545c0a8a3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545c0a8a3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545c0a8a3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545c0a8a3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545c0a8a3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545c0a8a3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545c0a8a3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b839592f1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b839592f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b839592f1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b839592f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545c0a8a3_0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545c0a8a3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545c0a8a3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545c0a8a3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b839592f1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b839592f1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545c0a8a3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545c0a8a3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545c0a8a3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545c0a8a3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545c0a8a3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a545c0a8a3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545c0a8a3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545c0a8a3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pewresearch.org/internet/2024/12/12/teens-social-media-and-technology-2024/?gad_source=1&amp;gad_campaignid=22378837192&amp;gbraid=0AAAAA-ddO9H3s3tPiu2YKtw0lCvxNKWU6&amp;gclid=Cj0KCQiA0KrJBhCOARIsAGIy9wD4z6GH6s7ScrVWBeyEvH4oDyJ2ZVeevzTLr0UC1X7dUxwv2KCGmosaAmKTEALw_wcB" TargetMode="External"/><Relationship Id="rId4" Type="http://schemas.openxmlformats.org/officeDocument/2006/relationships/image" Target="../media/image14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Analyzing Social Media Addiction Among Students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Cooper, Abdullah, Patrick, David, Alyssa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Picture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181075" y="1152475"/>
            <a:ext cx="5631600" cy="35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Social media is deeply integrated into student life.</a:t>
            </a:r>
            <a:br>
              <a:rPr lang="en" sz="12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2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It’s used for communication, entertainment, schoolwork, and networking.</a:t>
            </a:r>
            <a:br>
              <a:rPr lang="en" sz="12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2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But concerns exist about:</a:t>
            </a:r>
            <a:br>
              <a:rPr lang="en" sz="12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2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2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Mental health</a:t>
            </a:r>
            <a:br>
              <a:rPr lang="en" sz="12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2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2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Academic performance</a:t>
            </a:r>
            <a:br>
              <a:rPr lang="en" sz="12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2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2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Sleep</a:t>
            </a:r>
            <a:br>
              <a:rPr lang="en" sz="12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2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2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Addictive patterns</a:t>
            </a:r>
            <a:br>
              <a:rPr lang="en" sz="12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2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pic>
        <p:nvPicPr>
          <p:cNvPr descr="a black and white cartoon shows a group of people looking at their phones (Provided by Tenor)"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9825" y="1328450"/>
            <a:ext cx="3806050" cy="248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This Matters?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16825"/>
            <a:ext cx="4073700" cy="3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63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Pew Research (2024) found that </a:t>
            </a:r>
            <a:r>
              <a:rPr b="1" lang="en" sz="266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96%</a:t>
            </a:r>
            <a:r>
              <a:rPr lang="en" sz="2663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of teens use social media daily, and nearly 50% describe themselves as “almost constantly” online.</a:t>
            </a:r>
            <a:endParaRPr sz="2663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Source:</a:t>
            </a:r>
            <a:r>
              <a:rPr lang="en" sz="1100" u="sng">
                <a:solidFill>
                  <a:schemeClr val="hlink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  <a:hlinkClick r:id="rId3"/>
              </a:rPr>
              <a:t>https://www.pewresearch.org/internet/2024/12/12/teens-social-media-and-technology-2024/?gad_source=1&amp;gad_campaignid=22378837192&amp;gbraid=0AAAAA-ddO9H3s3tPiu2YKtw0lCvxNKWU6&amp;gclid=Cj0KCQiA0KrJBhCOARIsAGIy9wD4z6GH6s7ScrVWBeyEvH4oDyJ2ZVeevzTLr0UC1X7dUxwv2KCGmosaAmKTEALw_wcB</a:t>
            </a:r>
            <a:endParaRPr sz="11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pic>
        <p:nvPicPr>
          <p:cNvPr descr="a man with a beard is taking a selfie with a cell phone . (Provided by Tenor)"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7365" y="1116026"/>
            <a:ext cx="3348485" cy="291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Purpose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779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We wanted to understand how much students actually use social media, and whether high usage connects to addiction, sleep, or other effects</a:t>
            </a:r>
            <a:endParaRPr sz="14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pic>
        <p:nvPicPr>
          <p:cNvPr descr="a black background with icons for tiktok snapchat instagram and youtube (Provided by Tenor)"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9738" y="1880300"/>
            <a:ext cx="1724525" cy="306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Research Questions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62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How many hours per day do students spend online?</a:t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What are the most used social media platforms?</a:t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Do students show signs of social media addiction?</a:t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a man in a blue shirt and tie is standing in front of a bulletin board with papers on it . (Provided by Tenor)"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325" y="2405800"/>
            <a:ext cx="3765350" cy="217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Dataset1: Students Social Media Addiction.csv</a:t>
            </a:r>
            <a:endParaRPr/>
          </a:p>
        </p:txBody>
      </p:sp>
      <p:pic>
        <p:nvPicPr>
          <p:cNvPr id="94" name="Google Shape;94;p18" title="Untitled 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1017450"/>
            <a:ext cx="6312648" cy="38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Dataset2: </a:t>
            </a:r>
            <a:r>
              <a:rPr lang="en"/>
              <a:t>sentimentdataset</a:t>
            </a:r>
            <a:r>
              <a:rPr lang="en"/>
              <a:t>.csv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1930775" y="2349625"/>
            <a:ext cx="3726000" cy="6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9" title="Untitled 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32725"/>
            <a:ext cx="6910300" cy="383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33210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216624" y="4077275"/>
            <a:ext cx="2833800" cy="5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0" title="Untitled 6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50" y="2675975"/>
            <a:ext cx="4857776" cy="232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Untitled 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9875" y="332100"/>
            <a:ext cx="4699799" cy="221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/>
          <p:nvPr/>
        </p:nvSpPr>
        <p:spPr>
          <a:xfrm>
            <a:off x="593775" y="2006725"/>
            <a:ext cx="285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Dataset 1</a:t>
            </a:r>
            <a:endParaRPr sz="18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6840300" y="2825500"/>
            <a:ext cx="2303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Dataset2</a:t>
            </a:r>
            <a:endParaRPr sz="18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957625" y="2398975"/>
            <a:ext cx="325800" cy="232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7098225" y="2635925"/>
            <a:ext cx="434400" cy="2970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Question?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How many hours per day do YOU think the average student spends on social media?</a:t>
            </a:r>
            <a:endParaRPr sz="13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• Less than 3 hours</a:t>
            </a:r>
            <a:endParaRPr sz="13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• Between 3–6 hours</a:t>
            </a:r>
            <a:endParaRPr sz="13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• More than 6 hours</a:t>
            </a:r>
            <a:endParaRPr sz="2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pic>
        <p:nvPicPr>
          <p:cNvPr descr="a close up of a cat 's face with a question mark above its head . (Provided by Tenor)"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8400" y="2571750"/>
            <a:ext cx="2287200" cy="214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+ Code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2571750"/>
            <a:ext cx="5029200" cy="15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2" title="Rplot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99450"/>
            <a:ext cx="3067916" cy="3821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2" title="Untitled 6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5200" y="1129850"/>
            <a:ext cx="5678800" cy="109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2" title="Cod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65200" y="2338639"/>
            <a:ext cx="5483076" cy="2682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255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To answer our second research question, we used R to count how many students reported each platform as their “Most Used.” This allowed us to visualize overall social media preferences.</a:t>
            </a:r>
            <a:endParaRPr sz="16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pic>
        <p:nvPicPr>
          <p:cNvPr id="136" name="Google Shape;136;p23" title="Untitled 1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380375"/>
            <a:ext cx="6991350" cy="158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Visualizing Platform Popularity</a:t>
            </a:r>
            <a:endParaRPr sz="16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We used a bar chart to highlight which platforms dominate student daily use. This method makes it easy to compare engagement across Instagram, TikTok, YouTube, and others.</a:t>
            </a:r>
            <a:endParaRPr sz="16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pic>
        <p:nvPicPr>
          <p:cNvPr id="143" name="Google Shape;143;p24" title="Untitled 6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125" y="2493825"/>
            <a:ext cx="7963001" cy="251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Findings</a:t>
            </a:r>
            <a:endParaRPr/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 flipH="1">
            <a:off x="49200" y="1293275"/>
            <a:ext cx="3903000" cy="3149400"/>
          </a:xfrm>
          <a:prstGeom prst="rect">
            <a:avLst/>
          </a:prstGeom>
        </p:spPr>
        <p:txBody>
          <a:bodyPr anchorCtr="0" anchor="t" bIns="70050" lIns="70050" spcFirstLastPara="1" rIns="70050" wrap="square" tIns="70050">
            <a:normAutofit lnSpcReduction="10000"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layfair Display SemiBold"/>
              <a:buChar char="●"/>
            </a:pPr>
            <a:r>
              <a:rPr lang="en" sz="11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Instagram alone had 249 students listing it as their primary platform, meaning it outperformed TikTok by almost 100 users.</a:t>
            </a:r>
            <a:br>
              <a:rPr lang="en" sz="11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1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top three platforms (Instagram, TikTok, Facebook) together account for over 70% of all student preference, showing that addictive, scroll-based apps dominate student attention.</a:t>
            </a:r>
            <a:br>
              <a:rPr lang="en" sz="11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1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Lower-use platforms like LinkedIn and Snapchat fall well behind, suggesting students prioritize entertainment and communication over professional networking.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919"/>
              </a:spcAft>
              <a:buNone/>
            </a:pPr>
            <a:r>
              <a:t/>
            </a:r>
            <a:endParaRPr sz="1379"/>
          </a:p>
        </p:txBody>
      </p:sp>
      <p:pic>
        <p:nvPicPr>
          <p:cNvPr id="150" name="Google Shape;150;p25" title="Untitled 7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9900" y="1293275"/>
            <a:ext cx="2328284" cy="2407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5" title="Rplot1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3276" y="635062"/>
            <a:ext cx="3109774" cy="3873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</a:t>
            </a:r>
            <a:endParaRPr/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To answer our third research question, we used R to analyze the students self reported data scores of what their addiction levels were. This code allowed us to visualize a Histogram of Addiction Score.</a:t>
            </a:r>
            <a:endParaRPr/>
          </a:p>
        </p:txBody>
      </p:sp>
      <p:pic>
        <p:nvPicPr>
          <p:cNvPr id="158" name="Google Shape;158;p26" title="Untitled 9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425" y="2571749"/>
            <a:ext cx="8513155" cy="233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Findings</a:t>
            </a:r>
            <a:endParaRPr/>
          </a:p>
        </p:txBody>
      </p:sp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311700" y="1095825"/>
            <a:ext cx="4496100" cy="34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distribution is strongly left-skewed, meaning a very small number of students rated their addiction low, while the majority rated themselves highly addicted.”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Over half the class gave themselves scores between 7 and 9, meaning students are self-aware of addictive behaviors, not unaware.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This indicates that high usage is not accidental or purely circumstantial, students recognize their dependence on social platforms.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</a:t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pic>
        <p:nvPicPr>
          <p:cNvPr id="165" name="Google Shape;165;p27" title="Rplot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6538" y="924455"/>
            <a:ext cx="3157274" cy="3932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Further Insight Code</a:t>
            </a:r>
            <a:endParaRPr/>
          </a:p>
        </p:txBody>
      </p:sp>
      <p:sp>
        <p:nvSpPr>
          <p:cNvPr id="171" name="Google Shape;17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Now that we know that students are posting higher addiction scores lets see how that correlates to sleep.</a:t>
            </a:r>
            <a:endParaRPr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pic>
        <p:nvPicPr>
          <p:cNvPr id="172" name="Google Shape;172;p28" title="Untitled 6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450" y="2214274"/>
            <a:ext cx="8107112" cy="235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Findings</a:t>
            </a:r>
            <a:endParaRPr/>
          </a:p>
        </p:txBody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311700" y="1152475"/>
            <a:ext cx="4565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layfair Display SemiBold"/>
              <a:buChar char="●"/>
            </a:pPr>
            <a:r>
              <a:rPr lang="en" sz="15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There is a noticeable negative correlation between addiction score and sleep hours, students with higher addiction scores tend to sleep less.</a:t>
            </a:r>
            <a:br>
              <a:rPr lang="en" sz="15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5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layfair Display SemiBold"/>
              <a:buChar char="●"/>
            </a:pPr>
            <a:r>
              <a:rPr lang="en" sz="15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Although the trend line is downward overall, we also observed at least one major outlier, suggesting some students maintain high usage without sacrificing sleep but this is rare.</a:t>
            </a:r>
            <a:br>
              <a:rPr lang="en" sz="15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5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layfair Display SemiBold"/>
              <a:buChar char="●"/>
            </a:pPr>
            <a:r>
              <a:rPr lang="en" sz="15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general pattern supports research that social media can interfere with healthy sleep routines due to nighttime scrolling or emotional stimulation.</a:t>
            </a:r>
            <a:endParaRPr sz="15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pic>
        <p:nvPicPr>
          <p:cNvPr id="179" name="Google Shape;179;p29" title="Rplot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1000" y="819251"/>
            <a:ext cx="3277949" cy="4082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Sentiment Code</a:t>
            </a:r>
            <a:endParaRPr/>
          </a:p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Next we took our sentimentdataset.csv dataset and </a:t>
            </a: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analyzed</a:t>
            </a: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the text of random social media post from various platforms to gauge an idea of what these students could </a:t>
            </a: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possibly be viewing, more negative or more positive information. First we cleaned, tokenized, then found the most common words in the posts via word cloud/barchart.</a:t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pic>
        <p:nvPicPr>
          <p:cNvPr id="186" name="Google Shape;186;p30" title="Untitled 6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9350" y="2278925"/>
            <a:ext cx="3745299" cy="254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Findings</a:t>
            </a:r>
            <a:endParaRPr/>
          </a:p>
        </p:txBody>
      </p:sp>
      <p:sp>
        <p:nvSpPr>
          <p:cNvPr id="192" name="Google Shape;192;p31"/>
          <p:cNvSpPr txBox="1"/>
          <p:nvPr>
            <p:ph idx="1" type="body"/>
          </p:nvPr>
        </p:nvSpPr>
        <p:spPr>
          <a:xfrm>
            <a:off x="957625" y="2571750"/>
            <a:ext cx="1668600" cy="19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31" title="Untitled word clou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025" y="1017450"/>
            <a:ext cx="2781684" cy="3819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1" title="Rplot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865162"/>
            <a:ext cx="3204226" cy="399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Findings</a:t>
            </a:r>
            <a:endParaRPr/>
          </a:p>
        </p:txBody>
      </p:sp>
      <p:sp>
        <p:nvSpPr>
          <p:cNvPr id="200" name="Google Shape;20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word cloud reveals many emotionally charged terms like life, heart, feeling, dreams, etc. which indicates the content students see online often carries emotional weight.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Since emotional content increases engagement, this helps explain why students spend long periods scrolling; platforms prioritize posts that produce reactions.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This provides a behavioral explanation for why we see higher addiction scores, students are consuming content designed to trigger emotional responses.</a:t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Further Insight Code</a:t>
            </a:r>
            <a:endParaRPr/>
          </a:p>
        </p:txBody>
      </p:sp>
      <p:sp>
        <p:nvSpPr>
          <p:cNvPr id="206" name="Google Shape;206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Finally we used bing </a:t>
            </a:r>
            <a:r>
              <a:rPr lang="en" sz="16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sentiment</a:t>
            </a:r>
            <a:r>
              <a:rPr lang="en" sz="16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to easier visualize what amount of the text on social media were negative/positive.</a:t>
            </a:r>
            <a:endParaRPr sz="16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pic>
        <p:nvPicPr>
          <p:cNvPr id="207" name="Google Shape;207;p33" title="Untitled 8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200" y="2025850"/>
            <a:ext cx="8075599" cy="269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Further Insight Finding</a:t>
            </a:r>
            <a:endParaRPr/>
          </a:p>
        </p:txBody>
      </p:sp>
      <p:sp>
        <p:nvSpPr>
          <p:cNvPr id="213" name="Google Shape;213;p34"/>
          <p:cNvSpPr txBox="1"/>
          <p:nvPr>
            <p:ph idx="1" type="body"/>
          </p:nvPr>
        </p:nvSpPr>
        <p:spPr>
          <a:xfrm>
            <a:off x="311700" y="1152475"/>
            <a:ext cx="4723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Negative words appear frequently, suggesting exposure to stress-related or emotionally heavy content.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fair Display SemiBold"/>
              <a:buChar char="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Positive words are also present, showing that social media provides entertainment, humor, and connection.</a:t>
            </a:r>
            <a:b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Combined, this reflects the mixed emotional environment students experience online.</a:t>
            </a:r>
            <a:br>
              <a:rPr lang="en" sz="11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1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34" title="Rplot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3162" y="1016000"/>
            <a:ext cx="2962024" cy="368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Further Insight </a:t>
            </a:r>
            <a:endParaRPr/>
          </a:p>
        </p:txBody>
      </p:sp>
      <p:sp>
        <p:nvSpPr>
          <p:cNvPr id="220" name="Google Shape;220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How Sentiment Relates to Students’ Social Media Addiction:</a:t>
            </a:r>
            <a:endParaRPr sz="12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fair Display SemiBold"/>
              <a:buChar char="●"/>
            </a:pPr>
            <a:r>
              <a:rPr lang="en" sz="12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Students who spend more hours online are likely consuming content with emotional spikes (both positive and negative).</a:t>
            </a:r>
            <a:br>
              <a:rPr lang="en" sz="12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2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fair Display SemiBold"/>
              <a:buChar char="●"/>
            </a:pPr>
            <a:r>
              <a:rPr lang="en" sz="12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High emotional content is known to increase engagement and time spent on platforms.</a:t>
            </a:r>
            <a:br>
              <a:rPr lang="en" sz="12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2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This aligns with our data showing that heavier users tend to have higher Addicted Score values.</a:t>
            </a:r>
            <a:br>
              <a:rPr lang="en" sz="12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2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fair Display SemiBold"/>
              <a:buChar char="●"/>
            </a:pPr>
            <a:r>
              <a:rPr lang="en" sz="12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sentiment dataset helps explain why students stay online longer, emotionally charged content is more addictive.</a:t>
            </a:r>
            <a:endParaRPr sz="12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26" name="Google Shape;226;p36"/>
          <p:cNvSpPr txBox="1"/>
          <p:nvPr>
            <p:ph idx="1" type="body"/>
          </p:nvPr>
        </p:nvSpPr>
        <p:spPr>
          <a:xfrm>
            <a:off x="311700" y="1017450"/>
            <a:ext cx="8520600" cy="37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0865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layfair Display SemiBold"/>
              <a:buChar char="●"/>
            </a:pPr>
            <a:r>
              <a:rPr lang="en" sz="1801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Students spend nearly 5 hours per day on social media, showing extremely high engagement.</a:t>
            </a:r>
            <a:br>
              <a:rPr lang="en" sz="1801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801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0865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layfair Display SemiBold"/>
              <a:buChar char="●"/>
            </a:pPr>
            <a:r>
              <a:rPr lang="en" sz="1801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Instagram, TikTok, and YouTube dominate usage and align with patterns linked to addictive scrolling.</a:t>
            </a:r>
            <a:br>
              <a:rPr lang="en" sz="1801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801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0865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layfair Display SemiBold"/>
              <a:buChar char="●"/>
            </a:pPr>
            <a:r>
              <a:rPr lang="en" sz="1801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Addiction scores reveal that many students fall into moderate–high addiction categories.</a:t>
            </a:r>
            <a:br>
              <a:rPr lang="en" sz="1801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801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0865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layfair Display SemiBold"/>
              <a:buChar char="●"/>
            </a:pPr>
            <a:r>
              <a:rPr lang="en" sz="1801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Sentiment analysis shows students often view emotionally intense or negative content, reinforcing compulsive habits.</a:t>
            </a:r>
            <a:br>
              <a:rPr lang="en" sz="1801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801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0865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layfair Display SemiBold"/>
              <a:buChar char="●"/>
            </a:pPr>
            <a:r>
              <a:rPr lang="en" sz="1801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Together, both datasets show that student behavior is shaped by heavy usage, emotional content, and developing signs of addiction, which may also contribute to reduced sleep and lower daily productivity.</a:t>
            </a:r>
            <a:br>
              <a:rPr lang="en" sz="1801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801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-30865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layfair Display SemiBold"/>
              <a:buChar char="●"/>
            </a:pPr>
            <a:r>
              <a:rPr lang="en" sz="1801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Overall, the findings suggest a need for greater awareness and healthier digital habits among students.</a:t>
            </a:r>
            <a:endParaRPr sz="1801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